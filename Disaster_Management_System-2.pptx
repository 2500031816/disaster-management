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rect">
            <a:avLst/>
          </a:prstGeom>
          <a:solidFill>
            <a:srgbClr val="B71C1C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rect">
            <a:avLst/>
          </a:prstGeom>
          <a:solidFill>
            <a:srgbClr val="1565C0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🚨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DISASTER MANAGEMENT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F4C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 FOR EMERGENCY COORDINATION &amp; RELIEF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5029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0292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Disaster Management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E4E7EC"/>
          </a:solidFill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64008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disaster management system helps authorities and organizations coordinate relief efforts during emergencies. The platform collects and organizes data related to affected areas, resources, and volunteers.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64008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 report incidents, track relief measures, and allocate resources efficiently. Real-time updates, location-based notifications, and analytics support informed decision-making in crisis situations.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effectLst>
            <a:outerShdw blurRad="76200" dist="25400" dir="5400000" algn="bl" rotWithShape="0">
              <a:srgbClr val="8A94A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35240" y="2148840"/>
            <a:ext cx="594360" cy="59436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0" name="Text 8"/>
          <p:cNvSpPr txBox="1"/>
          <p:nvPr/>
        </p:nvSpPr>
        <p:spPr>
          <a:xfrm>
            <a:off x="7635240" y="21488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2128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329184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effectLst>
            <a:outerShdw blurRad="76200" dist="25400" dir="5400000" algn="bl" rotWithShape="0">
              <a:srgbClr val="8A94A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35240" y="3611880"/>
            <a:ext cx="594360" cy="59436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4" name="Text 12"/>
          <p:cNvSpPr txBox="1"/>
          <p:nvPr/>
        </p:nvSpPr>
        <p:spPr>
          <a:xfrm>
            <a:off x="7635240" y="3611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6758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640" y="475488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effectLst>
            <a:outerShdw blurRad="76200" dist="25400" dir="5400000" algn="bl" rotWithShape="0">
              <a:srgbClr val="8A94A3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5074920"/>
            <a:ext cx="594360" cy="59436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8" name="Text 16"/>
          <p:cNvSpPr txBox="1"/>
          <p:nvPr/>
        </p:nvSpPr>
        <p:spPr>
          <a:xfrm>
            <a:off x="7635240" y="50749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5138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Volunteers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disaster response needs a coordinated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8424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Fragmented Information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details, resource stock and volunteer status live in separate, disconnected records.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1" name="Text 9"/>
          <p:cNvSpPr txBox="1"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8424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Delayed Reporting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5176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or phone-based reporting slows down how quickly an incident reaches responders.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245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Resource Visibility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Authorities often lack a real-time view of what supplies are available and where.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20" name="Shape 18"/>
          <p:cNvSpPr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1" name="Text 19"/>
          <p:cNvSpPr txBox="1"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245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Uncoordinated Volunteers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920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a shared system, matching volunteer skills to the right location is difficult.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system is designed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7FB"/>
          </a:solidFill>
        </p:spPr>
      </p:sp>
      <p:sp>
        <p:nvSpPr>
          <p:cNvPr id="5" name="Shape 3"/>
          <p:cNvSpPr/>
          <p:nvPr/>
        </p:nvSpPr>
        <p:spPr>
          <a:xfrm>
            <a:off x="1554480" y="2057400"/>
            <a:ext cx="685800" cy="68580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6" name="Text 4"/>
          <p:cNvSpPr txBox="1"/>
          <p:nvPr/>
        </p:nvSpPr>
        <p:spPr>
          <a:xfrm>
            <a:off x="1554480" y="20574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Fast Reporting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any user report an incident in seconds with type, location and severity.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7288" y="16916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CEAEA"/>
          </a:solidFill>
        </p:spPr>
      </p:sp>
      <p:sp>
        <p:nvSpPr>
          <p:cNvPr id="10" name="Shape 8"/>
          <p:cNvSpPr/>
          <p:nvPr/>
        </p:nvSpPr>
        <p:spPr>
          <a:xfrm>
            <a:off x="4453128" y="2057400"/>
            <a:ext cx="685800" cy="6858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1" name="Text 9"/>
          <p:cNvSpPr txBox="1"/>
          <p:nvPr/>
        </p:nvSpPr>
        <p:spPr>
          <a:xfrm>
            <a:off x="4453128" y="20574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0175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 Coordination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70332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Bring incidents, resources and volunteers into a single shared platform.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45936" y="16916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7FB"/>
          </a:solidFill>
        </p:spPr>
      </p:sp>
      <p:sp>
        <p:nvSpPr>
          <p:cNvPr id="15" name="Shape 13"/>
          <p:cNvSpPr/>
          <p:nvPr/>
        </p:nvSpPr>
        <p:spPr>
          <a:xfrm>
            <a:off x="7351776" y="2057400"/>
            <a:ext cx="685800" cy="68580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6" name="Text 14"/>
          <p:cNvSpPr txBox="1"/>
          <p:nvPr/>
        </p:nvSpPr>
        <p:spPr>
          <a:xfrm>
            <a:off x="7351776" y="20574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30175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Real-Time Decisions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370332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Surface live counts and alerts so responders can act on current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44584" y="16916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CEAEA"/>
          </a:solidFill>
        </p:spPr>
      </p:sp>
      <p:sp>
        <p:nvSpPr>
          <p:cNvPr id="20" name="Shape 18"/>
          <p:cNvSpPr/>
          <p:nvPr/>
        </p:nvSpPr>
        <p:spPr>
          <a:xfrm>
            <a:off x="10250424" y="2057400"/>
            <a:ext cx="685800" cy="6858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1" name="Text 19"/>
          <p:cNvSpPr txBox="1"/>
          <p:nvPr/>
        </p:nvSpPr>
        <p:spPr>
          <a:xfrm>
            <a:off x="10250424" y="20574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427464" y="30175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Access by Role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73184" y="370332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citizens and administrators the right level of control and visibility.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platform gives responders and citizens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4F7FB"/>
          </a:solidFill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Reporting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Citizens report emergencies with type, location and severity in real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4F7FB"/>
          </a:solidFill>
        </p:spPr>
      </p:sp>
      <p:sp>
        <p:nvSpPr>
          <p:cNvPr id="10" name="Shape 8"/>
          <p:cNvSpPr/>
          <p:nvPr/>
        </p:nvSpPr>
        <p:spPr>
          <a:xfrm>
            <a:off x="4617720" y="1828800"/>
            <a:ext cx="548640" cy="5486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1" name="Text 9"/>
          <p:cNvSpPr txBox="1"/>
          <p:nvPr/>
        </p:nvSpPr>
        <p:spPr>
          <a:xfrm>
            <a:off x="461772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146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Tracking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8036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view of relief supplies — water, food, medical kits — by center and status.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4F7FB"/>
          </a:solidFill>
        </p:spPr>
      </p:sp>
      <p:sp>
        <p:nvSpPr>
          <p:cNvPr id="15" name="Shape 13"/>
          <p:cNvSpPr/>
          <p:nvPr/>
        </p:nvSpPr>
        <p:spPr>
          <a:xfrm>
            <a:off x="8458200" y="182880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6" name="Text 14"/>
          <p:cNvSpPr txBox="1"/>
          <p:nvPr/>
        </p:nvSpPr>
        <p:spPr>
          <a:xfrm>
            <a:off x="845820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5146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Volunteer Coordination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88036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skills and location; track availability and deployment status.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4F7FB"/>
          </a:solidFill>
        </p:spPr>
      </p:sp>
      <p:sp>
        <p:nvSpPr>
          <p:cNvPr id="20" name="Shape 18"/>
          <p:cNvSpPr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21" name="Text 19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377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&amp; Alerts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0352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 and location-based notifications support fast decisions.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402336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4F7FB"/>
          </a:solidFill>
        </p:spPr>
      </p:sp>
      <p:sp>
        <p:nvSpPr>
          <p:cNvPr id="25" name="Shape 23"/>
          <p:cNvSpPr/>
          <p:nvPr/>
        </p:nvSpPr>
        <p:spPr>
          <a:xfrm>
            <a:off x="4617720" y="425196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6" name="Text 24"/>
          <p:cNvSpPr txBox="1"/>
          <p:nvPr/>
        </p:nvSpPr>
        <p:spPr>
          <a:xfrm>
            <a:off x="4617720" y="4251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377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30352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user and admin modules keep oversight and reporting distinct.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402336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4F7FB"/>
          </a:solidFill>
        </p:spPr>
      </p:sp>
      <p:sp>
        <p:nvSpPr>
          <p:cNvPr id="30" name="Shape 28"/>
          <p:cNvSpPr/>
          <p:nvPr/>
        </p:nvSpPr>
        <p:spPr>
          <a:xfrm>
            <a:off x="8458200" y="4251960"/>
            <a:ext cx="548640" cy="5486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31" name="Text 29"/>
          <p:cNvSpPr txBox="1"/>
          <p:nvPr/>
        </p:nvSpPr>
        <p:spPr>
          <a:xfrm>
            <a:off x="8458200" y="4251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9377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Updates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530352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counts and relief status refresh as new data comes in.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6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roles, one coordinated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252B36"/>
          </a:solidFill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57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Module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61772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incidents with type, location, severity and description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personal incident submission history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relief resources by center and availability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volunteer directory and deployment status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252B36"/>
          </a:solidFill>
        </p:spPr>
      </p:sp>
      <p:sp>
        <p:nvSpPr>
          <p:cNvPr id="10" name="Shape 8"/>
          <p:cNvSpPr/>
          <p:nvPr/>
        </p:nvSpPr>
        <p:spPr>
          <a:xfrm>
            <a:off x="6629400" y="1965960"/>
            <a:ext cx="640080" cy="64008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1" name="Text 9"/>
          <p:cNvSpPr txBox="1"/>
          <p:nvPr/>
        </p:nvSpPr>
        <p:spPr>
          <a:xfrm>
            <a:off x="6629400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057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Module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834640"/>
            <a:ext cx="461772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total registered users and total incidents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every incident report across all users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Oversee resource and volunteer availability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D6D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data: clear incident reports or reset users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CF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incident to resolution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2377440"/>
            <a:ext cx="1005840" cy="10058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5" name="Text 3"/>
          <p:cNvSpPr txBox="1"/>
          <p:nvPr/>
        </p:nvSpPr>
        <p:spPr>
          <a:xfrm>
            <a:off x="1371600" y="23774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📝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2267712"/>
            <a:ext cx="365760" cy="365760"/>
          </a:xfrm>
          <a:prstGeom prst="ellipse">
            <a:avLst/>
          </a:prstGeom>
          <a:solidFill>
            <a:srgbClr val="1B1F2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submits incident with type, location &amp; severity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2743200"/>
            <a:ext cx="356616" cy="274320"/>
          </a:xfrm>
          <a:prstGeom prst="rightArrow">
            <a:avLst/>
          </a:prstGeom>
          <a:solidFill>
            <a:srgbClr val="D6DAE0"/>
          </a:solidFill>
        </p:spPr>
      </p:sp>
      <p:sp>
        <p:nvSpPr>
          <p:cNvPr id="10" name="Shape 8"/>
          <p:cNvSpPr/>
          <p:nvPr/>
        </p:nvSpPr>
        <p:spPr>
          <a:xfrm>
            <a:off x="4343400" y="2377440"/>
            <a:ext cx="1005840" cy="10058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1" name="Text 9"/>
          <p:cNvSpPr txBox="1"/>
          <p:nvPr/>
        </p:nvSpPr>
        <p:spPr>
          <a:xfrm>
            <a:off x="4343400" y="23774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🗄️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2267712"/>
            <a:ext cx="365760" cy="365760"/>
          </a:xfrm>
          <a:prstGeom prst="ellipse">
            <a:avLst/>
          </a:prstGeom>
          <a:solidFill>
            <a:srgbClr val="1B1F2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611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0233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captured and organized in the system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53912" y="2743200"/>
            <a:ext cx="356616" cy="274320"/>
          </a:xfrm>
          <a:prstGeom prst="rightArrow">
            <a:avLst/>
          </a:prstGeom>
          <a:solidFill>
            <a:srgbClr val="D6DAE0"/>
          </a:solidFill>
        </p:spPr>
      </p:sp>
      <p:sp>
        <p:nvSpPr>
          <p:cNvPr id="16" name="Shape 14"/>
          <p:cNvSpPr/>
          <p:nvPr/>
        </p:nvSpPr>
        <p:spPr>
          <a:xfrm>
            <a:off x="7315200" y="2377440"/>
            <a:ext cx="1005840" cy="10058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7" name="Text 15"/>
          <p:cNvSpPr txBox="1"/>
          <p:nvPr/>
        </p:nvSpPr>
        <p:spPr>
          <a:xfrm>
            <a:off x="7315200" y="23774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🤝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028432" y="2267712"/>
            <a:ext cx="365760" cy="365760"/>
          </a:xfrm>
          <a:prstGeom prst="ellipse">
            <a:avLst/>
          </a:prstGeom>
          <a:solidFill>
            <a:srgbClr val="1B1F2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611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0233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reviews and allocates resources &amp; volunteers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25712" y="2743200"/>
            <a:ext cx="356616" cy="274320"/>
          </a:xfrm>
          <a:prstGeom prst="rightArrow">
            <a:avLst/>
          </a:prstGeom>
          <a:solidFill>
            <a:srgbClr val="D6DAE0"/>
          </a:solidFill>
        </p:spPr>
      </p:sp>
      <p:sp>
        <p:nvSpPr>
          <p:cNvPr id="22" name="Shape 20"/>
          <p:cNvSpPr/>
          <p:nvPr/>
        </p:nvSpPr>
        <p:spPr>
          <a:xfrm>
            <a:off x="10287000" y="2377440"/>
            <a:ext cx="1005840" cy="10058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23" name="Text 21"/>
          <p:cNvSpPr txBox="1"/>
          <p:nvPr/>
        </p:nvSpPr>
        <p:spPr>
          <a:xfrm>
            <a:off x="10287000" y="23774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✅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2267712"/>
            <a:ext cx="365760" cy="365760"/>
          </a:xfrm>
          <a:prstGeom prst="ellipse">
            <a:avLst/>
          </a:prstGeom>
          <a:solidFill>
            <a:srgbClr val="1B1F2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3611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64040" y="40233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Relief is delivered and status is updated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Lightweight, browser-based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4F7FB"/>
          </a:solidFill>
        </p:spPr>
      </p:sp>
      <p:sp>
        <p:nvSpPr>
          <p:cNvPr id="5" name="Shape 3"/>
          <p:cNvSpPr/>
          <p:nvPr/>
        </p:nvSpPr>
        <p:spPr>
          <a:xfrm>
            <a:off x="1531620" y="2011680"/>
            <a:ext cx="731520" cy="73152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6" name="Text 4"/>
          <p:cNvSpPr txBox="1"/>
          <p:nvPr/>
        </p:nvSpPr>
        <p:spPr>
          <a:xfrm>
            <a:off x="153162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for auth, dashboard and module pages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6916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CEAEA"/>
          </a:solidFill>
        </p:spPr>
      </p:sp>
      <p:sp>
        <p:nvSpPr>
          <p:cNvPr id="10" name="Shape 8"/>
          <p:cNvSpPr/>
          <p:nvPr/>
        </p:nvSpPr>
        <p:spPr>
          <a:xfrm>
            <a:off x="4430268" y="2011680"/>
            <a:ext cx="73152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1" name="Text 9"/>
          <p:cNvSpPr txBox="1"/>
          <p:nvPr/>
        </p:nvSpPr>
        <p:spPr>
          <a:xfrm>
            <a:off x="4430268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9260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3375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grid layout, cards and status badges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16916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4F7FB"/>
          </a:solidFill>
        </p:spPr>
      </p:sp>
      <p:sp>
        <p:nvSpPr>
          <p:cNvPr id="15" name="Shape 13"/>
          <p:cNvSpPr/>
          <p:nvPr/>
        </p:nvSpPr>
        <p:spPr>
          <a:xfrm>
            <a:off x="7328916" y="2011680"/>
            <a:ext cx="731520" cy="73152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6" name="Text 14"/>
          <p:cNvSpPr txBox="1"/>
          <p:nvPr/>
        </p:nvSpPr>
        <p:spPr>
          <a:xfrm>
            <a:off x="7328916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9260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3375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logic — auth, incident forms, role-based navigation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44584" y="16916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CEAEA"/>
          </a:solidFill>
        </p:spPr>
      </p:sp>
      <p:sp>
        <p:nvSpPr>
          <p:cNvPr id="20" name="Shape 18"/>
          <p:cNvSpPr/>
          <p:nvPr/>
        </p:nvSpPr>
        <p:spPr>
          <a:xfrm>
            <a:off x="10227564" y="2011680"/>
            <a:ext cx="73152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1" name="Text 19"/>
          <p:cNvSpPr txBox="1"/>
          <p:nvPr/>
        </p:nvSpPr>
        <p:spPr>
          <a:xfrm>
            <a:off x="10227564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381744" y="29260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Storage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33375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Client-side persistence for users, sessions and incidents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Emergency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snapshot for coordinating a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620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Incidents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16916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</p:spPr>
      </p:sp>
      <p:sp>
        <p:nvSpPr>
          <p:cNvPr id="9" name="Text 7"/>
          <p:cNvSpPr txBox="1"/>
          <p:nvPr/>
        </p:nvSpPr>
        <p:spPr>
          <a:xfrm>
            <a:off x="3630168" y="185623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194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8620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Affected Areas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45936" y="16916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</p:spPr>
      </p:sp>
      <p:sp>
        <p:nvSpPr>
          <p:cNvPr id="13" name="Text 11"/>
          <p:cNvSpPr txBox="1"/>
          <p:nvPr/>
        </p:nvSpPr>
        <p:spPr>
          <a:xfrm>
            <a:off x="6528816" y="185623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2194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28620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Volunteers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44584" y="16916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</p:spPr>
      </p:sp>
      <p:sp>
        <p:nvSpPr>
          <p:cNvPr id="17" name="Text 15"/>
          <p:cNvSpPr txBox="1"/>
          <p:nvPr/>
        </p:nvSpPr>
        <p:spPr>
          <a:xfrm>
            <a:off x="9427464" y="185623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427464" y="2194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427464" y="28620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Relief Completed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F4F7FB"/>
          </a:solidFill>
        </p:spPr>
      </p:sp>
      <p:sp>
        <p:nvSpPr>
          <p:cNvPr id="21" name="Text 19"/>
          <p:cNvSpPr txBox="1"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Alerts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4251960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</p:spPr>
      </p:sp>
      <p:sp>
        <p:nvSpPr>
          <p:cNvPr id="23" name="Text 21"/>
          <p:cNvSpPr txBox="1"/>
          <p:nvPr/>
        </p:nvSpPr>
        <p:spPr>
          <a:xfrm>
            <a:off x="1097280" y="4251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Flood warning: stay away from low-lying areas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4910328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</p:spPr>
      </p:sp>
      <p:sp>
        <p:nvSpPr>
          <p:cNvPr id="25" name="Text 23"/>
          <p:cNvSpPr txBox="1"/>
          <p:nvPr/>
        </p:nvSpPr>
        <p:spPr>
          <a:xfrm>
            <a:off x="1097280" y="491032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Emergency shelter available at Relief Center 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5568696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</p:spPr>
      </p:sp>
      <p:sp>
        <p:nvSpPr>
          <p:cNvPr id="27" name="Text 25"/>
          <p:cNvSpPr txBox="1"/>
          <p:nvPr/>
        </p:nvSpPr>
        <p:spPr>
          <a:xfrm>
            <a:off x="1097280" y="556869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🚑  Rescue operation active in affected zones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approach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8424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Response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Incidents reach the right people the moment they're reported.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CEAEA"/>
          </a:solidFill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1" name="Text 9"/>
          <p:cNvSpPr txBox="1"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8424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Visibility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5176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dashboard shows incidents, resources and volunteers together.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245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to Use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lightweight, browser-based app with no installation needed.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CEAEA"/>
          </a:solidFill>
        </p:spPr>
      </p:sp>
      <p:sp>
        <p:nvSpPr>
          <p:cNvPr id="20" name="Shape 18"/>
          <p:cNvSpPr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1" name="Text 19"/>
          <p:cNvSpPr txBox="1"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245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Design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920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structure makes it easy to add features or data sources.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the system can go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8424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Map View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 incidents and resources on a live map for spatial awareness.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1" name="Text 9"/>
          <p:cNvSpPr txBox="1"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8424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 / Push Alerts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5176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Notify nearby users and volunteers automatically during emergencies.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245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Database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local storage with a backend for multi-device, multi-user access.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</p:spPr>
      </p:sp>
      <p:sp>
        <p:nvSpPr>
          <p:cNvPr id="20" name="Shape 18"/>
          <p:cNvSpPr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21" name="Text 19"/>
          <p:cNvSpPr txBox="1"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245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920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historical data to anticipate resource needs before a crisis peaks.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rect">
            <a:avLst/>
          </a:prstGeom>
          <a:solidFill>
            <a:srgbClr val="B71C1C">
              <a:alpha val="45000"/>
            </a:srgbClr>
          </a:solidFill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98755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4C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bringing incident reporting, resource tracking and volunteer coordination into one platform, the system gives authorities and communities a faster, clearer way to respond when it matters most.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86868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coordination across incidents, resources and volunteers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visibility for faster, better-informed decisions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role-based access for citizens and administrators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4826</Words>
  <Application>WPS Presentation</Application>
  <PresentationFormat>On-screen Show (16:9)</PresentationFormat>
  <Paragraphs>330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pulicherla MAHESH</cp:lastModifiedBy>
  <cp:revision>2</cp:revision>
  <dcterms:created xsi:type="dcterms:W3CDTF">2026-09-25T04:26:00Z</dcterms:created>
  <dcterms:modified xsi:type="dcterms:W3CDTF">2026-09-25T10:25:11Z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903BABDE82E8457B89D08928AB89ACC9_12</vt:lpwstr>
  </property>
  <property fmtid="{D5CDD505-2E9C-101B-9397-08002B2CF9AE}" pid="3" name="KSOProductBuildVer">
    <vt:lpwstr>2057-12.2.0.23206</vt:lpwstr>
  </property>
</Properties>
</file>